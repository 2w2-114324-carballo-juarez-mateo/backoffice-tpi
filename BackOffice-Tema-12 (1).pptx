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380" y="3759200"/>
            <a:ext cx="7873803" cy="248920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68371" y="4089400"/>
            <a:ext cx="772140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TRABAJO INTEGRADOR · 4° CUATRIMESTRE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68371" y="4437360"/>
            <a:ext cx="7111822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2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BackOffice · Tema 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68371" y="5272980"/>
            <a:ext cx="77214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Plataforma de Aprendizaje Gamificado de Programación · Rol del equipo: BFF por experiencia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DECISIÓN DE PLATAFORMA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equipo asume el BFF por experiencia y propone un estándar de plataforma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2049165"/>
            <a:ext cx="5181470" cy="322351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28" y="2309515"/>
            <a:ext cx="460998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Responsabilidad asumida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5328" y="2832100"/>
            <a:ext cx="4609985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5328" y="3073400"/>
            <a:ext cx="4609985" cy="1964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Implementación: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Equipo BackOffice; BFF por experiencia, estado asumido.</a:t>
            </a:r>
            <a:endParaRPr lang="en-US" sz="14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Librería compartida: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 coordinar en clase; propuesta de aportar contratos OpenAPI.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Marketplace de skills: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 coordinar en clase; BackOffice lo consume para configurar agentes.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91384" y="2049165"/>
            <a:ext cx="4490727" cy="3223518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77126" y="2309515"/>
            <a:ext cx="391924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Estándar propuesto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77126" y="2832100"/>
            <a:ext cx="3919142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77126" y="3073400"/>
            <a:ext cx="3919241" cy="1568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Una respuesta por pantalla.</a:t>
            </a:r>
            <a:endParaRPr lang="en-US" sz="14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Cookie → contexto.</a:t>
            </a:r>
            <a:endParaRPr lang="en-US" sz="14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Servicio al SSR.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Sin reglas de negocio.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41744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ROL DEL BACKOFFICE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3564841" cy="1237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BackOffice es el tablero de control, no la fábrica de datos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2487017"/>
            <a:ext cx="3564841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Compone y administra; no inventa el estado del juego.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885508" y="660400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Consumidor puro.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Lee datos de los demás equipos y no fabrica los datos del juego.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5508" y="2208808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Configuración global.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Administra PAR-01..24 y proveedores de IA, con impacto transversal sobre los cursos.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5508" y="3757216"/>
            <a:ext cx="717919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Visibilidad operativa.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Muestra reportes y métricas aislados por curso.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85508" y="5030093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Acceso ordenado.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El front entra por Nginx → BFF → Gateway; nunca toca la base ni el broker.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0109" y="2037358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60109" y="3585766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60109" y="4858643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355600"/>
            <a:ext cx="477508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MAPA DE INTEGRACIÓN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703560"/>
            <a:ext cx="4165496" cy="16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La arquitectura separa experiencia, acceso, servicios, mensajería y datos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76678" y="355600"/>
            <a:ext cx="3225719" cy="1964234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86223" y="514350"/>
            <a:ext cx="280663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6223" y="992485"/>
            <a:ext cx="280663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navegador → Nginx → Angular SSR · BFF BackOffice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4793" y="355600"/>
            <a:ext cx="3225719" cy="1964234"/>
          </a:xfrm>
          <a:custGeom>
            <a:avLst/>
            <a:gdLst/>
            <a:ahLst/>
            <a:cxnLst/>
            <a:rect l="l" t="t" r="r" b="b"/>
            <a:pathLst>
              <a:path w="3225719" h="1964234">
                <a:moveTo>
                  <a:pt x="0" y="0"/>
                </a:moveTo>
                <a:lnTo>
                  <a:pt x="3203491" y="0"/>
                </a:lnTo>
                <a:arcTo hR="22229" wR="22228" stAng="16200000" swAng="5400000"/>
                <a:lnTo>
                  <a:pt x="3225719" y="1964234"/>
                </a:lnTo>
                <a:lnTo>
                  <a:pt x="0" y="19642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64338" y="514350"/>
            <a:ext cx="280663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64338" y="992485"/>
            <a:ext cx="280663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API Gateway (T01) → Administration &amp; Configuration · Reporting &amp; Analytics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76678" y="2472134"/>
            <a:ext cx="3225719" cy="1964432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6223" y="2630884"/>
            <a:ext cx="280663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Mensajería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6223" y="3109020"/>
            <a:ext cx="280663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Kafka para eventos de configuración, Outbox e idempotencia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4793" y="2472134"/>
            <a:ext cx="3225719" cy="1964432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4338" y="2630884"/>
            <a:ext cx="280663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4338" y="3109020"/>
            <a:ext cx="280663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PostgreSQL por servicio, read models tenant-scoped con course_id y RLS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76678" y="4588867"/>
            <a:ext cx="6603835" cy="1964333"/>
          </a:xfrm>
          <a:custGeom>
            <a:avLst/>
            <a:gdLst/>
            <a:ahLst/>
            <a:cxnLst/>
            <a:rect l="l" t="t" r="r" b="b"/>
            <a:pathLst>
              <a:path w="6603835" h="1964333">
                <a:moveTo>
                  <a:pt x="0" y="0"/>
                </a:moveTo>
                <a:lnTo>
                  <a:pt x="6603835" y="0"/>
                </a:lnTo>
                <a:lnTo>
                  <a:pt x="6603835" y="1942104"/>
                </a:lnTo>
                <a:arcTo hR="22229" wR="22228" stAng="0" swAng="5400000"/>
                <a:lnTo>
                  <a:pt x="0" y="1964333"/>
                </a:lnTo>
                <a:lnTo>
                  <a:pt x="0" y="0"/>
                </a:lnTo>
                <a:close/>
              </a:path>
            </a:pathLst>
          </a:custGeom>
          <a:solidFill>
            <a:srgbClr val="3E4B56"/>
          </a:solidFill>
          <a:ln/>
        </p:spPr>
      </p:sp>
      <p:sp>
        <p:nvSpPr>
          <p:cNvPr id="17" name="Text 15"/>
          <p:cNvSpPr/>
          <p:nvPr/>
        </p:nvSpPr>
        <p:spPr>
          <a:xfrm>
            <a:off x="5079873" y="4715867"/>
            <a:ext cx="619744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Regla de integración: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sync por el Gateway (T01); asíncrono por Kafka con Outbox + idempotencia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EXPERIENCIA UNIFICADA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BFF convierte una arquitectura distribuida en una experiencia unificada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3774877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C7CCD0"/>
          </a:solidFill>
          <a:ln/>
        </p:spPr>
      </p:sp>
      <p:sp>
        <p:nvSpPr>
          <p:cNvPr id="5" name="Shape 3"/>
          <p:cNvSpPr/>
          <p:nvPr/>
        </p:nvSpPr>
        <p:spPr>
          <a:xfrm>
            <a:off x="2727852" y="3419277"/>
            <a:ext cx="19050" cy="355600"/>
          </a:xfrm>
          <a:prstGeom prst="roundRect">
            <a:avLst>
              <a:gd name="adj" fmla="val 49999"/>
            </a:avLst>
          </a:prstGeom>
          <a:solidFill>
            <a:srgbClr val="C7CCD0"/>
          </a:solidFill>
          <a:ln/>
        </p:spPr>
      </p:sp>
      <p:sp>
        <p:nvSpPr>
          <p:cNvPr id="6" name="Shape 4"/>
          <p:cNvSpPr/>
          <p:nvPr/>
        </p:nvSpPr>
        <p:spPr>
          <a:xfrm>
            <a:off x="2670703" y="3708202"/>
            <a:ext cx="133347" cy="13335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2023765"/>
            <a:ext cx="38999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spc="-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Nginx recibe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7380" y="2414885"/>
            <a:ext cx="3899993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Integra aplicaciones Angular SSR independientes por dominio bajo un mismo dominio.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66766" y="3774877"/>
            <a:ext cx="19050" cy="355600"/>
          </a:xfrm>
          <a:prstGeom prst="roundRect">
            <a:avLst>
              <a:gd name="adj" fmla="val 49999"/>
            </a:avLst>
          </a:prstGeom>
          <a:solidFill>
            <a:srgbClr val="C7CCD0"/>
          </a:solidFill>
          <a:ln/>
        </p:spPr>
      </p:sp>
      <p:sp>
        <p:nvSpPr>
          <p:cNvPr id="10" name="Shape 8"/>
          <p:cNvSpPr/>
          <p:nvPr/>
        </p:nvSpPr>
        <p:spPr>
          <a:xfrm>
            <a:off x="4909618" y="3708202"/>
            <a:ext cx="133347" cy="13335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11" name="Text 9"/>
          <p:cNvSpPr/>
          <p:nvPr/>
        </p:nvSpPr>
        <p:spPr>
          <a:xfrm>
            <a:off x="3026295" y="4308277"/>
            <a:ext cx="390009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spc="-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BFF compone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26295" y="4699397"/>
            <a:ext cx="390009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Junta lo que necesita cada pantalla en una única respuesta y sirve al SSR.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05681" y="3419277"/>
            <a:ext cx="19050" cy="355600"/>
          </a:xfrm>
          <a:prstGeom prst="roundRect">
            <a:avLst>
              <a:gd name="adj" fmla="val 49999"/>
            </a:avLst>
          </a:prstGeom>
          <a:solidFill>
            <a:srgbClr val="C7CCD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48532" y="3708202"/>
            <a:ext cx="133347" cy="13335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15" name="Text 13"/>
          <p:cNvSpPr/>
          <p:nvPr/>
        </p:nvSpPr>
        <p:spPr>
          <a:xfrm>
            <a:off x="5265209" y="2023765"/>
            <a:ext cx="390009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spc="-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Gateway protege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65209" y="2414885"/>
            <a:ext cx="390009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Concentra el acceso a la API; el front no habla con servicios internos.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44694" y="3774877"/>
            <a:ext cx="19050" cy="355600"/>
          </a:xfrm>
          <a:prstGeom prst="roundRect">
            <a:avLst>
              <a:gd name="adj" fmla="val 49999"/>
            </a:avLst>
          </a:prstGeom>
          <a:solidFill>
            <a:srgbClr val="C7CCD0"/>
          </a:solidFill>
          <a:ln/>
        </p:spPr>
      </p:sp>
      <p:sp>
        <p:nvSpPr>
          <p:cNvPr id="18" name="Shape 16"/>
          <p:cNvSpPr/>
          <p:nvPr/>
        </p:nvSpPr>
        <p:spPr>
          <a:xfrm>
            <a:off x="9387546" y="3708202"/>
            <a:ext cx="133347" cy="133350"/>
          </a:xfrm>
          <a:prstGeom prst="ellipse">
            <a:avLst/>
          </a:prstGeom>
          <a:solidFill>
            <a:srgbClr val="3E4B56"/>
          </a:solidFill>
          <a:ln/>
        </p:spPr>
      </p:sp>
      <p:sp>
        <p:nvSpPr>
          <p:cNvPr id="19" name="Text 17"/>
          <p:cNvSpPr/>
          <p:nvPr/>
        </p:nvSpPr>
        <p:spPr>
          <a:xfrm>
            <a:off x="7504222" y="4308277"/>
            <a:ext cx="390009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spc="-8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Los servicios responden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04222" y="4699397"/>
            <a:ext cx="390009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 front no conoce la base ni Kafka; el BFF no incorpora reglas de negocio.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585" y="553620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5841008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spc="21" kern="0" dirty="0">
                <a:solidFill>
                  <a:srgbClr val="57646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Despliegue:</a:t>
            </a:r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Docker en dos etapas · envsubst · CI/CD con GitHub Actions · Rolling Update · Feature Flags.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PUNTO DE ENTRADA ÚNICO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Gateway es la única puerta de entrada para la UI administrativa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36713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1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COMPONENTE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RESPONSABILIDAD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ALCANCE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6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API Gateway (T01)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JWT, 2FA y rate limiting para toda la API.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Única entrada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6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Identity (T01)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Login, cookie httpOnly, roles y 401 → login.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Sesión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6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Administration &amp; Configuration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PAR-01..24, proveedores LLM, evaluador y golden set.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Plataforma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72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Reporting &amp; Analytics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Panel, reportes docentes, métricas/CSAT, exportación y alertas.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Operación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6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Cursos / Matrícula (T02)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Listado, selector de tenant y validación de pertenencia.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Curso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59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Lecturas 02/04/05/07/08/10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Solo si el panel requiere progreso, ranking o encuestas.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Según necesidad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AISLAMIENTO POR TENANT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RLS convierte el curso en un límite técnico, no solo administrativo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636713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Tenant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2067818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Curso-cohorte identificado por course_id, con multitenancy lógico y una base por servicio.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4442" y="1636713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TenantContext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24442" y="2067818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Define app.current_course desde token validado y matrícula T02, nunca desde el request.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076079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585" y="3507184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Refuerza el aislamiento para que la base no devuelva filas de otros cursos aunque falte un WHERE.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442" y="3076079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 global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442" y="3507184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Puede operar sobre un curso puntual o ALL, sin BYPASSRLS y con lecturas globales auditadas.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4515445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Regla de profesor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585" y="4946551"/>
            <a:ext cx="586725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PROFESOR con ALL recibe 403.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4442" y="4515445"/>
            <a:ext cx="5867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Prueba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4442" y="4946551"/>
            <a:ext cx="5257668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PROFESOR A → curso A → 200; curso B → 403; ADMIN → panel global → 200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498" y="1636713"/>
            <a:ext cx="12700" cy="121076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2841129"/>
            <a:ext cx="5486263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89498" y="2847479"/>
            <a:ext cx="12700" cy="143936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2841129"/>
            <a:ext cx="5486263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4280495"/>
            <a:ext cx="5486263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4286845"/>
            <a:ext cx="12700" cy="121076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4280495"/>
            <a:ext cx="5486263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432553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CONTRATO ASÍNCRONO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3715947" cy="16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Kafka propaga cambios confiables sin convertirlo en el canal de respuesta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58819" y="660400"/>
            <a:ext cx="3374345" cy="17610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62014" y="813098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00858" y="838200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REST responde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00858" y="1316335"/>
            <a:ext cx="242911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 Gateway resuelve la operación síncrona.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85561" y="660400"/>
            <a:ext cx="3374345" cy="1761034"/>
          </a:xfrm>
          <a:custGeom>
            <a:avLst/>
            <a:gdLst/>
            <a:ahLst/>
            <a:cxnLst/>
            <a:rect l="l" t="t" r="r" b="b"/>
            <a:pathLst>
              <a:path w="3374345" h="1761034">
                <a:moveTo>
                  <a:pt x="0" y="0"/>
                </a:moveTo>
                <a:lnTo>
                  <a:pt x="3352117" y="0"/>
                </a:lnTo>
                <a:arcTo hR="22229" wR="22228" stAng="16200000" swAng="5400000"/>
                <a:lnTo>
                  <a:pt x="3374345" y="1761034"/>
                </a:lnTo>
                <a:lnTo>
                  <a:pt x="0" y="17610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588755" y="813098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27599" y="838200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Outbox registra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27599" y="1316335"/>
            <a:ext cx="242911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Cambio y evento se escriben en la misma transacción.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58819" y="2573734"/>
            <a:ext cx="3374345" cy="1761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62014" y="2726432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00858" y="2751534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Kafka notifica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0858" y="3229670"/>
            <a:ext cx="242911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Los consumidores reciben cambios de configuración.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5561" y="2573734"/>
            <a:ext cx="3374345" cy="1761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588755" y="2726432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27599" y="2751534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Idempotencia filtra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27599" y="3229670"/>
            <a:ext cx="2429112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Descarta por event_id y por version cuando v ≤ local.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58819" y="4487267"/>
            <a:ext cx="3374345" cy="17611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62014" y="4639965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00858" y="4665067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TTL respalda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00858" y="5143202"/>
            <a:ext cx="2429112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T03/05/08/10 conservan el valor durante 10 minutos si el evento no llega.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85561" y="4487267"/>
            <a:ext cx="3374345" cy="1761133"/>
          </a:xfrm>
          <a:custGeom>
            <a:avLst/>
            <a:gdLst/>
            <a:ahLst/>
            <a:cxnLst/>
            <a:rect l="l" t="t" r="r" b="b"/>
            <a:pathLst>
              <a:path w="3374345" h="1761133">
                <a:moveTo>
                  <a:pt x="0" y="0"/>
                </a:moveTo>
                <a:lnTo>
                  <a:pt x="3374345" y="0"/>
                </a:lnTo>
                <a:lnTo>
                  <a:pt x="3374345" y="1738904"/>
                </a:lnTo>
                <a:arcTo hR="22229" wR="22228" stAng="0" swAng="5400000"/>
                <a:lnTo>
                  <a:pt x="0" y="17611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88755" y="4639965"/>
            <a:ext cx="970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27599" y="4665067"/>
            <a:ext cx="242911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Replay reconstruye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27599" y="5143202"/>
            <a:ext cx="2429112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Los read models pueden rehacerse a partir de contratos REST.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03200"/>
            <a:ext cx="821927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RECORRIDOS PRINCIPALES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527149"/>
            <a:ext cx="7609689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Los casos de uso conectan identidad, configuración, reportes y evaluación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618754"/>
            <a:ext cx="7609689" cy="226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Login + 2FA → BFF → Identity (T01): cookie httpOnly, 401 → login.</a:t>
            </a:r>
            <a:endParaRPr lang="en-US" sz="1400" dirty="0"/>
          </a:p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Gestión de plataforma → Administration con T01: roles y auditoría.</a:t>
            </a:r>
            <a:endParaRPr lang="en-US" sz="1400" dirty="0"/>
          </a:p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Cambio de PAR-01 → REST + Outbox + Kafka + caché TTL: T03/05/08/10 lo aplican hacia adelante.</a:t>
            </a:r>
            <a:endParaRPr lang="en-US" sz="1400" dirty="0"/>
          </a:p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Reporte por curso → Reporting tenant-scoped; pertenencia con T02; caso ADMIN ALL.</a:t>
            </a:r>
            <a:endParaRPr lang="en-US" sz="1400" dirty="0"/>
          </a:p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Proveedor LLM → exclusivo ADMIN; T07 lo consume mediante ModelProviderChanged.</a:t>
            </a:r>
            <a:endParaRPr lang="en-US" sz="1400" dirty="0"/>
          </a:p>
          <a:p>
            <a:pPr algn="l" marL="284480" indent="-284480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Exportación y alertas → Reporting + lecturas de T02/04/05/07/08/10.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25565" y="0"/>
            <a:ext cx="3566130" cy="6858000"/>
          </a:xfrm>
          <a:custGeom>
            <a:avLst/>
            <a:gdLst/>
            <a:ahLst/>
            <a:cxnLst/>
            <a:rect l="l" t="t" r="r" b="b"/>
            <a:pathLst>
              <a:path w="3566130" h="6858000">
                <a:moveTo>
                  <a:pt x="0" y="0"/>
                </a:moveTo>
                <a:lnTo>
                  <a:pt x="3543902" y="0"/>
                </a:lnTo>
                <a:arcTo hR="22229" wR="22228" stAng="16200000" swAng="5400000"/>
                <a:lnTo>
                  <a:pt x="3566130" y="6835771"/>
                </a:lnTo>
                <a:arcTo hR="22229" wR="22228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955756" y="431800"/>
            <a:ext cx="3134341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Regla transversal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55756" y="1206599"/>
            <a:ext cx="2524756" cy="576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Todos los flujos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pasan por API Gateway (T01)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55756" y="2722463"/>
            <a:ext cx="2524756" cy="86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Todos los cambios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usan Kafka + Outbox + idempotencia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55756" y="4526359"/>
            <a:ext cx="2524756" cy="576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Todo contexto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queda aislado por curso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55756" y="2246213"/>
            <a:ext cx="2524756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55756" y="4050109"/>
            <a:ext cx="2524756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CIERRE · BACKOFFICE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357610"/>
            <a:ext cx="10769331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próximo paso es validar el contrato de integración con la cátedra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11182" y="3108424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3591024"/>
            <a:ext cx="5232269" cy="9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Validar: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broker Kafka y contratos de integración.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Coordinar: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estándar BFF, librería compartida y marketplace de skills.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3591024"/>
            <a:ext cx="5232269" cy="9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Conectar: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contratos de lectura con los equipos de reportes y evaluación.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Demostrar: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soporte visual interactivo en el sitio.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82" y="4814491"/>
            <a:ext cx="7365816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5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BackOffice queda definido como una capa de experiencia y control: compone, protege, aísla y distribuye configuración sin absorber reglas de negocio.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1182" y="6367760"/>
            <a:ext cx="11378915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¡Gracias!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2026-09-04T15:03:53Z</dcterms:created>
  <dcterms:modified xsi:type="dcterms:W3CDTF">2026-09-04T15:03:53Z</dcterms:modified>
</cp:coreProperties>
</file>