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BackOffice · Tema 12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E6FF"/>
                </a:solidFill>
              </a:rPr>
              <a:t>Plataforma de Aprendizaje Gamificado de Programación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BFF"/>
                </a:solidFill>
              </a:rPr>
              <a:t>Trabajo Integrador · 4° Cuatrimestre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71C2"/>
                </a:solidFill>
              </a:rPr>
              <a:t>Rol del equipo: BFF por experiencia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</a:rPr>
              <a:t>Nginx · BFF · API Gateway · Kafka · Multitenancy + RLS · Despliegue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01 / 14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CONSIGNA DEL PROFE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roles por grupo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  <a:gridCol w="3200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Rol (de la consigna)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Quién lo asume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Implementación del BFF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971C2"/>
                          </a:solidFill>
                        </a:rPr>
                        <a:t>Equipo BackOffice (BFF por experiencia)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F9E44"/>
                          </a:solidFill>
                        </a:rPr>
                        <a:t>✅ Asumido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Librería compartida (@tup/ui, @tup/contracts)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A coordinar en clase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⏳ Proponemos aportar contratos OpenAPI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</a:rPr>
                        <a:t>Marketplace de skills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A coordinar en clase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⏳ El BackOffice lo consume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846320"/>
            <a:ext cx="1106424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956048"/>
            <a:ext cx="10424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</a:rPr>
              <a:t>Nuestra postura: asumimos el BFF por experiencia (el BFF BackOffice es del equipo) y proponemos un estándar de BFF de plataforma. Librería y marketplace se coordinan en clase.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NUESTRO ROL EN LA PLATAFORMA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hacemos como BackOffice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el "tablero de control" de la plataforma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fabricamos los datos de juego: los leemos de los demás equipos (consumidor puro).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Administramos la configuración global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 economía (PAR-01..24) y proveedores de IA — una decisión que vale para todos los cursos.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reportes y métricas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curso, aislados entre sí (cada curso es su propio salón).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siempre ordenado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 entra por Nginx → BFF → Gateway; nunca toca la base ni el broker.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frente a la clase: BFF por experiencia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construimos el BFF del BackOffice y proponemos el estándar de BFF para la plataforma.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HOY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del equipo: BFF por experiencia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hacemos como BackOffice (en simple)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(capas: Front · Back · Mensajería · BD)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recepcionista, mesero y guardia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híbrida con Kafka (Outbox + caché TTL)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Multitenancy + RLS (caso ADMIN global)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y casos de uso, conectados con los demás equipos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del frontend (Docker 2 etapas + Nginx + CI/CD)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VISIÓN GENERAL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 (por capas)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11612880" cy="2377440"/>
          </a:xfrm>
          <a:prstGeom prst="roundRect">
            <a:avLst/>
          </a:prstGeom>
          <a:solidFill>
            <a:srgbClr val="E8590C">
              <a:alpha val="8000"/>
            </a:srgbClr>
          </a:solidFill>
          <a:ln w="9525">
            <a:solidFill>
              <a:srgbClr val="E859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703320"/>
            <a:ext cx="11612880" cy="914400"/>
          </a:xfrm>
          <a:prstGeom prst="roundRect">
            <a:avLst/>
          </a:prstGeom>
          <a:solidFill>
            <a:srgbClr val="1971C2">
              <a:alpha val="8000"/>
            </a:srgbClr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709160"/>
            <a:ext cx="11612880" cy="914400"/>
          </a:xfrm>
          <a:prstGeom prst="roundRect">
            <a:avLst/>
          </a:prstGeom>
          <a:solidFill>
            <a:srgbClr val="862E9C">
              <a:alpha val="8000"/>
            </a:srgbClr>
          </a:solidFill>
          <a:ln w="9525">
            <a:solidFill>
              <a:srgbClr val="862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984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0C"/>
                </a:solidFill>
              </a:rPr>
              <a:t>FRONT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37673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1C2"/>
                </a:solidFill>
              </a:rPr>
              <a:t>BACK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47731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2E9C"/>
                </a:solidFill>
              </a:rPr>
              <a:t>MENSAJERÍA + BD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645920"/>
            <a:ext cx="1965960" cy="658368"/>
          </a:xfrm>
          <a:prstGeom prst="roundRect">
            <a:avLst/>
          </a:prstGeom>
          <a:solidFill>
            <a:srgbClr val="E8590C">
              <a:alpha val="16000"/>
            </a:srgbClr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16733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Navegador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95144" y="198424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el ADMIN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79392" y="182880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965960" cy="658368"/>
          </a:xfrm>
          <a:prstGeom prst="roundRect">
            <a:avLst/>
          </a:prstGeom>
          <a:solidFill>
            <a:srgbClr val="E8590C">
              <a:alpha val="16000"/>
            </a:srgbClr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6733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Nginx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09744" y="198424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web + /api/*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03136" y="182880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96912" y="1645920"/>
            <a:ext cx="1920240" cy="658368"/>
          </a:xfrm>
          <a:prstGeom prst="roundRect">
            <a:avLst/>
          </a:prstGeom>
          <a:solidFill>
            <a:srgbClr val="E8590C">
              <a:alpha val="16000"/>
            </a:srgbClr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167335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Angular SSR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51776" y="198424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consola admin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32120" y="231343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1965960" cy="658368"/>
          </a:xfrm>
          <a:prstGeom prst="roundRect">
            <a:avLst/>
          </a:prstGeom>
          <a:solidFill>
            <a:srgbClr val="E8590C">
              <a:alpha val="16000"/>
            </a:srgbClr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81635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BFF BackOffice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9744" y="312724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agrega por pantalla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345643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3794760"/>
            <a:ext cx="1965960" cy="658368"/>
          </a:xfrm>
          <a:prstGeom prst="roundRect">
            <a:avLst/>
          </a:prstGeom>
          <a:solidFill>
            <a:srgbClr val="1971C2">
              <a:alpha val="16000"/>
            </a:srgbClr>
          </a:solidFill>
          <a:ln w="19050">
            <a:solidFill>
              <a:srgbClr val="1971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3822192"/>
            <a:ext cx="1856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API Gateway (T01)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9744" y="413308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JWT + rol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03136" y="397764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96912" y="3794760"/>
            <a:ext cx="1920240" cy="658368"/>
          </a:xfrm>
          <a:prstGeom prst="roundRect">
            <a:avLst/>
          </a:prstGeom>
          <a:solidFill>
            <a:srgbClr val="1971C2">
              <a:alpha val="16000"/>
            </a:srgbClr>
          </a:solidFill>
          <a:ln w="19050">
            <a:solidFill>
              <a:srgbClr val="1971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382219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Administration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351776" y="413308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PAR + proveedores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299448" y="3977640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784080" y="3794760"/>
            <a:ext cx="1828800" cy="658368"/>
          </a:xfrm>
          <a:prstGeom prst="roundRect">
            <a:avLst/>
          </a:prstGeom>
          <a:solidFill>
            <a:srgbClr val="1971C2">
              <a:alpha val="16000"/>
            </a:srgbClr>
          </a:solidFill>
          <a:ln w="19050">
            <a:solidFill>
              <a:srgbClr val="1971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38944" y="382219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Reporting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38944" y="413308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panel · reportes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46227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2E9C"/>
                </a:solidFill>
              </a:rPr>
              <a:t>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296912" y="4800600"/>
            <a:ext cx="1920240" cy="658368"/>
          </a:xfrm>
          <a:prstGeom prst="roundRect">
            <a:avLst/>
          </a:prstGeom>
          <a:solidFill>
            <a:srgbClr val="862E9C">
              <a:alpha val="16000"/>
            </a:srgbClr>
          </a:solidFill>
          <a:ln w="19050">
            <a:solidFill>
              <a:srgbClr val="862E9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51776" y="4828032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Kafka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351776" y="513892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administration.events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360152" y="446227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44"/>
                </a:solidFill>
              </a:rPr>
              <a:t>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784080" y="4800600"/>
            <a:ext cx="1828800" cy="658368"/>
          </a:xfrm>
          <a:prstGeom prst="roundRect">
            <a:avLst/>
          </a:prstGeom>
          <a:solidFill>
            <a:srgbClr val="2F9E44">
              <a:alpha val="16000"/>
            </a:srgbClr>
          </a:solidFill>
          <a:ln w="19050">
            <a:solidFill>
              <a:srgbClr val="2F9E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38944" y="4828032"/>
            <a:ext cx="1719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3"/>
                </a:solidFill>
              </a:rPr>
              <a:t>PostgreSQL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838944" y="5138928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reporting + RLS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</a:rPr>
              <a:t>PARA ENTENDERLO FÁCIL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 no entra directo a las oficinas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269748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27632"/>
            <a:ext cx="2423160" cy="566928"/>
          </a:xfrm>
          <a:prstGeom prst="roundRect">
            <a:avLst/>
          </a:prstGeom>
          <a:solidFill>
            <a:srgbClr val="E8590C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NGINX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3172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Recepcionista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880360"/>
            <a:ext cx="23682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</a:rPr>
              <a:t>Decide a qué oficina mandarte y reencamina si te perdés.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9748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1627632"/>
            <a:ext cx="2423160" cy="566928"/>
          </a:xfrm>
          <a:prstGeom prst="roundRect">
            <a:avLst/>
          </a:prstGeom>
          <a:solidFill>
            <a:srgbClr val="1971C2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719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BFF BackOffice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33172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Mesero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9584" y="2880360"/>
            <a:ext cx="23682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</a:rPr>
              <a:t>Junta todo lo que pedís en una sola bandeja (una respuesta por pantalla).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269748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627632"/>
            <a:ext cx="2423160" cy="566928"/>
          </a:xfrm>
          <a:prstGeom prst="roundRect">
            <a:avLst/>
          </a:prstGeom>
          <a:solidFill>
            <a:srgbClr val="862E9C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719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Gateway (T01)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233172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Guardia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5936" y="2880360"/>
            <a:ext cx="23682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</a:rPr>
              <a:t>Valida tu credencial y te deja pasar solo a las oficinas que te corresponden.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1463040"/>
            <a:ext cx="269748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4856" y="1627632"/>
            <a:ext cx="2423160" cy="566928"/>
          </a:xfrm>
          <a:prstGeom prst="roundRect">
            <a:avLst/>
          </a:prstGeom>
          <a:solidFill>
            <a:srgbClr val="2F9E44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97696" y="1719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Microservicios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07424" y="2331720"/>
            <a:ext cx="2478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</a:rPr>
              <a:t>Oficinas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62288" y="2880360"/>
            <a:ext cx="236829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</a:rPr>
              <a:t>Cada una hace su tarea; vos no entrás a la cocina.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1106424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864608"/>
            <a:ext cx="10424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</a:rPr>
              <a:t>Resultado: una sola puerta, un solo pedido y datos siempre de la fuente correcta. El front nunca habla con la base ni con Kafka.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BackOffice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+ reverse proxy (/api/* → BFF) + deep-links + seguridad.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BackOffice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las respuestas de Administration, Reporting y T02 por pantalla.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(T01)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puerta: JWT, 2FA, rate limiting, correlation ID.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Configuration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PAR-01..24, proveedores LLM (exclusivo ADMIN), evaluador, golden set.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panel, reportes docentes, métricas/CSAT, export, alertas.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Outbox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de configuración con idempotencia y caché TTL 10 min.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RLS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por servicio; aislamiento por course_id en reporting.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862E9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2E9C"/>
                </a:solidFill>
              </a:rPr>
              <a:t>PATRÓN HÍBRIDO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híbrida con Kafka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862E9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responde; los eventos avisan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por el gateway para lo síncrono; Kafka solo notifica cambios de configuración.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= decisión de plataforma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Banco también lo usan → un único broker (RabbitMQ queda como alternativa).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evento se escribe en la misma transacción que el cambio → no se pierde.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event_id y por version (el consumidor descarta v ≤ local).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con TTL 10 min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consumidores (T03/05/08/10) guardan el valor; si el evento no llega, el TTL es el respaldo.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disponible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permite re-leer topics; los read models igual se reconstruyen por contratos REST.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2F9E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9E44"/>
                </a:solidFill>
              </a:rPr>
              <a:t>AISLAMIENTO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Multitenancy + RLS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2F9E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= curso-cohorte (course_id)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multitenancy lógico: una base por servicio + columna course_id.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TenantContext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setea app.current_course desde el contexto validado (token + matrícula T02) — nunca del request.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como refuerzo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no devuelve filas de otros cursos aunque el query olvide el WHERE.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ADMIN global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puntual o ALL (centinela); sin BYPASSRLS; PROFESOR con ALL → 403; lecturas globales auditadas.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aislamiento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A → curso A → 200 · curso B → 403 · ADMIN → panel global → 200.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09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FLUJOS DE TRABAJO · 1/2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del BackOffice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+ 2FA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BFF → Identity (T01): cookie httpOnly, 401 → login conservando el intento.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plataforma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administradores, roles y operativas (Administration, con T01).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PAR-01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Outbox + Kafka + caché TTL: Administration publica y los Temas 03/05/08/10 aplican hacia adelante (RF-CFG-06).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interactiva del sitio: flujos animados por capas.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6424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47488"/>
            <a:ext cx="10424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</a:rPr>
              <a:t>Conecta con: T01 (identidad/roles) · T02 (matrícula) · T03/05/08/10 (consumen la configuración).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FLUJOS DE TRABAJO · 2/2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del BackOffice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por curso (RLS)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tenant-scoped; TenantContext + RLS; pertenencia validada con T02; caso ADMIN ALL.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LLM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de ADMIN; golden set + calibración; el T07 lo consume (evento ModelProviderChanged).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y alertas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y reportes con export (generado por backend) y alertas (CSAT bajo, retención próxima).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interactiva del sitio: multitenancy/RLS y despliegue.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64240" cy="868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47488"/>
            <a:ext cx="10424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2933"/>
                </a:solidFill>
              </a:rPr>
              <a:t>Conecta con: T02 (matrícula) · T04/05/07/08/10 (lecturas para métricas) · T01 (autorización).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590C"/>
                </a:solidFill>
              </a:rPr>
              <a:t>NGINX + DOCKER + CI/CD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del Frontend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 etapas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node:20 compila → nginx:alpine sirve los estáticos (sin Node en producción).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envsubst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nginx.conf es una plantilla con ${BFF_URL}: misma imagen para staging y producción.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build → tests → push imagen → deploy del compose.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+ Feature Flags (base); Blue-Green alternativa; Canary/A-B/Shadow descartadas.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· Weighted · Least Connections · IP Hash (para el TP alcanza 1 instancia).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Monitoreo/rollback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healthchecks service_healthy + logs de Nginx + tags por versión.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QUÉ DAMOS · QUÉ NECESITAMOS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otros equipos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Otro equipo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Qué da / qué recibe con el BackOffice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1C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T01 Identidad/roles/auditoría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Nos da: login, roles, 2FA, gateway, auditoría (consumida).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T02 Cursos / Matrícula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Nos da: pertenencia a la cohorte (base del tenant).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T03/05/08/10 Gamificación/Banco/Roadmap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Reciben: la configuración de PAR (GlobalConfigurationChanged).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T04/05/07/08/10 Lecturas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Nos dan: contratos de lectura para reportes/métricas.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T07 Evaluación LLM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Recibe: el proveedor LLM (ModelProviderChanged, exclusivo ADMIN).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</a:rPr>
                        <a:t>Frontend (Caso A)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2606D"/>
                          </a:solidFill>
                        </a:rPr>
                        <a:t>Compartimos: BFF por experiencia, cookie de sesión, @tup/ui.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71C2"/>
                </a:solidFill>
              </a:rPr>
              <a:t>PRÓXIMOS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54864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Rol: BFF por experiencia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servicios propietarios · consumidor puro · soporte visual interactivo en el sitio.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la cátedra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broker (Kafka) y los contratos de lectura con los demás equipos.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en clase</a:t>
            </a:r>
            <a:pPr lvl="1" indent="0" marL="0">
              <a:lnSpc>
                <a:spcPct val="112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BFF, librería compartida y marketplace.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71C2"/>
                </a:solidFill>
              </a:rPr>
              <a:t>¡Gracias!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0" y="6656832"/>
            <a:ext cx="12188952" cy="18288"/>
          </a:xfrm>
          <a:prstGeom prst="rect">
            <a:avLst/>
          </a:prstGeom>
          <a:solidFill>
            <a:srgbClr val="CBD2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647395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BackOffice · Tema 12 · Plataforma Gamificada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881360" y="64739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2606D"/>
                </a:solidFill>
              </a:rPr>
              <a:t>14 /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BackOffice — Plataforma de Aprendizaje Gamificado</dc:title>
  <dc:subject>TPI 4° Cuatrimestre · Rol del equipo y flujos de trabajo</dc:subject>
  <dc:creator>Equipo BackOffice — Tema 12</dc:creator>
  <cp:lastModifiedBy>Equipo BackOffice — Tema 12</cp:lastModifiedBy>
  <cp:revision>1</cp:revision>
  <dcterms:created xsi:type="dcterms:W3CDTF">2026-09-04T15:38:22Z</dcterms:created>
  <dcterms:modified xsi:type="dcterms:W3CDTF">2026-09-04T15:38:22Z</dcterms:modified>
</cp:coreProperties>
</file>